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48" r:id="rId2"/>
  </p:sldMasterIdLst>
  <p:notesMasterIdLst>
    <p:notesMasterId r:id="rId13"/>
  </p:notesMasterIdLst>
  <p:sldIdLst>
    <p:sldId id="256" r:id="rId3"/>
    <p:sldId id="298" r:id="rId4"/>
    <p:sldId id="299" r:id="rId5"/>
    <p:sldId id="300" r:id="rId6"/>
    <p:sldId id="301" r:id="rId7"/>
    <p:sldId id="303" r:id="rId8"/>
    <p:sldId id="308" r:id="rId9"/>
    <p:sldId id="309" r:id="rId10"/>
    <p:sldId id="311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44"/>
    <p:restoredTop sz="94659"/>
  </p:normalViewPr>
  <p:slideViewPr>
    <p:cSldViewPr snapToGrid="0" snapToObjects="1">
      <p:cViewPr varScale="1">
        <p:scale>
          <a:sx n="120" d="100"/>
          <a:sy n="120" d="100"/>
        </p:scale>
        <p:origin x="192" y="7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9B3E78-9205-B34E-B1F6-D4DF4BEC25A2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AFFE0-2338-4543-9D07-AEFEB8CCC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6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6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297180"/>
            <a:ext cx="10515600" cy="1203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2pPr marL="723900" indent="-266700"/>
            <a:lvl3pPr marL="1234439" indent="-320039"/>
            <a:lvl4pPr marL="1727200" indent="-355600"/>
            <a:lvl5pPr marL="2184400" indent="-355600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4" name="Google Shape;9;p13" descr="Google Shape;9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5" y="51424"/>
            <a:ext cx="1028918" cy="360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AGV_vUfYYOp4_Bd241WnxzMP9CUslhK6rnANbw-L64D4JoU-IP-Zc_uAECAiNByyhunXGEdX4HNyC3606EDmTC28JWWpOI6jBgvXRr5sfCjf0_to824-Ykwm3yy4OZfvIQmq5dTH7vpEIVXGF8GghipF=s2048.png" descr="AGV_vUfYYOp4_Bd241WnxzMP9CUslhK6rnANbw-L64D4JoU-IP-Zc_uAECAiNByyhunXGEdX4HNyC3606EDmTC28JWWpOI6jBgvXRr5sfCjf0_to824-Ykwm3yy4OZfvIQmq5dTH7vpEIVXGF8GghipF=s20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" y="6411156"/>
            <a:ext cx="1777557" cy="264725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Google Shape;12;p13"/>
          <p:cNvSpPr txBox="1"/>
          <p:nvPr/>
        </p:nvSpPr>
        <p:spPr>
          <a:xfrm>
            <a:off x="4565718" y="6440794"/>
            <a:ext cx="3060564" cy="318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AfriGen-D AGM 2025 (5-9 May)</a:t>
            </a:r>
          </a:p>
        </p:txBody>
      </p:sp>
      <p:pic>
        <p:nvPicPr>
          <p:cNvPr id="7" name="Google Shape;18;p14" descr="Google Shape;18;p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0214" y="6277617"/>
            <a:ext cx="1163205" cy="404803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Google Shape;21;p14"/>
          <p:cNvSpPr/>
          <p:nvPr/>
        </p:nvSpPr>
        <p:spPr>
          <a:xfrm>
            <a:off x="-8122" y="6785203"/>
            <a:ext cx="12208244" cy="82501"/>
          </a:xfrm>
          <a:prstGeom prst="rect">
            <a:avLst/>
          </a:prstGeom>
          <a:solidFill>
            <a:srgbClr val="D6001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sp>
        <p:nvSpPr>
          <p:cNvPr id="9" name="Google Shape;22;p14"/>
          <p:cNvSpPr/>
          <p:nvPr/>
        </p:nvSpPr>
        <p:spPr>
          <a:xfrm>
            <a:off x="-8172" y="6699504"/>
            <a:ext cx="12208344" cy="82501"/>
          </a:xfrm>
          <a:prstGeom prst="rect">
            <a:avLst/>
          </a:prstGeom>
          <a:solidFill>
            <a:srgbClr val="00BB4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pic>
        <p:nvPicPr>
          <p:cNvPr id="10" name="pasted-movie.png" descr="pasted-mov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6090" y="6429516"/>
            <a:ext cx="704214" cy="228005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757575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535353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1pPr>
      <a:lvl2pPr marL="657225" marR="0" indent="-200025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535353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2pPr>
      <a:lvl3pPr marL="1154430" marR="0" indent="-24003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535353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3pPr>
      <a:lvl4pPr marL="16383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535353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4pPr>
      <a:lvl5pPr marL="20955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535353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5pPr>
      <a:lvl6pPr marL="25527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535353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6pPr>
      <a:lvl7pPr marL="3009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535353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7pPr>
      <a:lvl8pPr marL="34671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535353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8pPr>
      <a:lvl9pPr marL="39243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535353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C8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GA4GH Beacon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8D8E8"/>
                </a:solidFill>
              </a:defRPr>
            </a:pPr>
            <a:r>
              <a:t>Federated genomic data discovery — a 10-minute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C8D8E8"/>
                </a:solidFill>
              </a:defRPr>
            </a:pPr>
            <a:r>
              <a:t>AfriGen-D · Honours student onboarding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Title 1"/>
          <p:cNvSpPr txBox="1">
            <a:spLocks noGrp="1"/>
          </p:cNvSpPr>
          <p:nvPr>
            <p:ph type="title"/>
          </p:nvPr>
        </p:nvSpPr>
        <p:spPr>
          <a:xfrm>
            <a:off x="838200" y="309880"/>
            <a:ext cx="10515600" cy="1203008"/>
          </a:xfrm>
          <a:prstGeom prst="rect">
            <a:avLst/>
          </a:prstGeom>
        </p:spPr>
        <p:txBody>
          <a:bodyPr/>
          <a:lstStyle/>
          <a:p>
            <a:r>
              <a:t>What is Beacon API?</a:t>
            </a:r>
          </a:p>
        </p:txBody>
      </p:sp>
      <p:sp>
        <p:nvSpPr>
          <p:cNvPr id="693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1215450" y="2265891"/>
            <a:ext cx="10042658" cy="3033152"/>
          </a:xfrm>
          <a:prstGeom prst="rect">
            <a:avLst/>
          </a:prstGeom>
        </p:spPr>
        <p:txBody>
          <a:bodyPr lIns="45699" tIns="45699" rIns="45699" bIns="45699"/>
          <a:lstStyle/>
          <a:p>
            <a:pPr marL="210552" indent="-210552">
              <a:lnSpc>
                <a:spcPct val="115000"/>
              </a:lnSpc>
              <a:spcBef>
                <a:spcPts val="1600"/>
              </a:spcBef>
              <a:buFontTx/>
            </a:pPr>
            <a:r>
              <a:t>Beacon v2 is a set of specifications, developed by GA4GH.</a:t>
            </a:r>
          </a:p>
          <a:p>
            <a:pPr marL="210552" indent="-210552">
              <a:lnSpc>
                <a:spcPct val="115000"/>
              </a:lnSpc>
              <a:spcBef>
                <a:spcPts val="1600"/>
              </a:spcBef>
              <a:buFontTx/>
            </a:pPr>
            <a:r>
              <a:t>The main purpose of Beacon is to provide a standardized way of sharing genomic/clinical/imaging data to enhance discoverability between researchers.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Title 1"/>
          <p:cNvSpPr txBox="1">
            <a:spLocks noGrp="1"/>
          </p:cNvSpPr>
          <p:nvPr>
            <p:ph type="title"/>
          </p:nvPr>
        </p:nvSpPr>
        <p:spPr>
          <a:xfrm>
            <a:off x="838200" y="309880"/>
            <a:ext cx="10515600" cy="1203008"/>
          </a:xfrm>
          <a:prstGeom prst="rect">
            <a:avLst/>
          </a:prstGeom>
        </p:spPr>
        <p:txBody>
          <a:bodyPr/>
          <a:lstStyle/>
          <a:p>
            <a:r>
              <a:t>Beacon v1</a:t>
            </a:r>
          </a:p>
        </p:txBody>
      </p:sp>
      <p:pic>
        <p:nvPicPr>
          <p:cNvPr id="696" name="Google Shape;140;p27" descr="Google Shape;140;p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516" y="2754606"/>
            <a:ext cx="6858004" cy="2889721"/>
          </a:xfrm>
          <a:prstGeom prst="rect">
            <a:avLst/>
          </a:prstGeom>
          <a:ln w="12700">
            <a:miter lim="400000"/>
          </a:ln>
        </p:spPr>
      </p:pic>
      <p:sp>
        <p:nvSpPr>
          <p:cNvPr id="697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1708572" y="1724025"/>
            <a:ext cx="9521892" cy="57993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lIns="45699" tIns="45699" rIns="45699" bIns="45699"/>
          <a:lstStyle>
            <a:lvl1pPr marL="0" indent="0" algn="ctr">
              <a:lnSpc>
                <a:spcPct val="115000"/>
              </a:lnSpc>
              <a:spcBef>
                <a:spcPts val="0"/>
              </a:spcBef>
              <a:buSzTx/>
              <a:buFontTx/>
              <a:buNone/>
            </a:lvl1pPr>
          </a:lstStyle>
          <a:p>
            <a:r>
              <a:t>Beacon v1 only offered boolean or count responses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Title 1"/>
          <p:cNvSpPr txBox="1">
            <a:spLocks noGrp="1"/>
          </p:cNvSpPr>
          <p:nvPr>
            <p:ph type="title"/>
          </p:nvPr>
        </p:nvSpPr>
        <p:spPr>
          <a:xfrm>
            <a:off x="838200" y="309880"/>
            <a:ext cx="10515600" cy="1203008"/>
          </a:xfrm>
          <a:prstGeom prst="rect">
            <a:avLst/>
          </a:prstGeom>
        </p:spPr>
        <p:txBody>
          <a:bodyPr/>
          <a:lstStyle/>
          <a:p>
            <a:r>
              <a:t>Beacon v1 in a network</a:t>
            </a:r>
          </a:p>
        </p:txBody>
      </p:sp>
      <p:pic>
        <p:nvPicPr>
          <p:cNvPr id="700" name="Image" descr="Image"/>
          <p:cNvPicPr>
            <a:picLocks noChangeAspect="1"/>
          </p:cNvPicPr>
          <p:nvPr/>
        </p:nvPicPr>
        <p:blipFill>
          <a:blip r:embed="rId2"/>
          <a:srcRect b="5835"/>
          <a:stretch>
            <a:fillRect/>
          </a:stretch>
        </p:blipFill>
        <p:spPr>
          <a:xfrm>
            <a:off x="1513284" y="1270495"/>
            <a:ext cx="9326662" cy="494008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Title 1"/>
          <p:cNvSpPr txBox="1">
            <a:spLocks noGrp="1"/>
          </p:cNvSpPr>
          <p:nvPr>
            <p:ph type="title"/>
          </p:nvPr>
        </p:nvSpPr>
        <p:spPr>
          <a:xfrm>
            <a:off x="838200" y="309880"/>
            <a:ext cx="10515600" cy="1203008"/>
          </a:xfrm>
          <a:prstGeom prst="rect">
            <a:avLst/>
          </a:prstGeom>
        </p:spPr>
        <p:txBody>
          <a:bodyPr/>
          <a:lstStyle/>
          <a:p>
            <a:r>
              <a:t>Beacon v2</a:t>
            </a:r>
          </a:p>
        </p:txBody>
      </p:sp>
      <p:sp>
        <p:nvSpPr>
          <p:cNvPr id="703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1683172" y="1343025"/>
            <a:ext cx="9521892" cy="1196658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lIns="45699" tIns="45699" rIns="45699" bIns="45699">
            <a:noAutofit/>
          </a:bodyPr>
          <a:lstStyle>
            <a:lvl1pPr marL="0" indent="0" algn="ctr">
              <a:lnSpc>
                <a:spcPct val="115000"/>
              </a:lnSpc>
              <a:spcBef>
                <a:spcPts val="0"/>
              </a:spcBef>
              <a:buSzTx/>
              <a:buFontTx/>
              <a:buNone/>
            </a:lvl1pPr>
          </a:lstStyle>
          <a:p>
            <a:r>
              <a:rPr dirty="0"/>
              <a:t>Beacon v2 offers record responses, displaying data for variations, individuals, </a:t>
            </a:r>
            <a:r>
              <a:rPr dirty="0" err="1"/>
              <a:t>biosamples</a:t>
            </a:r>
            <a:r>
              <a:rPr dirty="0"/>
              <a:t>, runs, analyses, datasets and cohorts.</a:t>
            </a:r>
          </a:p>
        </p:txBody>
      </p:sp>
      <p:pic>
        <p:nvPicPr>
          <p:cNvPr id="704" name="Google Shape;147;p28" descr="Google Shape;147;p28"/>
          <p:cNvPicPr>
            <a:picLocks noChangeAspect="1"/>
          </p:cNvPicPr>
          <p:nvPr/>
        </p:nvPicPr>
        <p:blipFill>
          <a:blip r:embed="rId2"/>
          <a:srcRect t="6566" b="4545"/>
          <a:stretch>
            <a:fillRect/>
          </a:stretch>
        </p:blipFill>
        <p:spPr>
          <a:xfrm>
            <a:off x="2519619" y="2559464"/>
            <a:ext cx="7849060" cy="392449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Beacon Securit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Beacon Security</a:t>
            </a:r>
          </a:p>
        </p:txBody>
      </p:sp>
      <p:pic>
        <p:nvPicPr>
          <p:cNvPr id="711" name="Google Shape;2405;p138" descr="Google Shape;2405;p1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774" y="-14443"/>
            <a:ext cx="3742295" cy="1973501"/>
          </a:xfrm>
          <a:prstGeom prst="rect">
            <a:avLst/>
          </a:prstGeom>
          <a:ln w="12700">
            <a:miter lim="400000"/>
          </a:ln>
        </p:spPr>
      </p:pic>
      <p:sp>
        <p:nvSpPr>
          <p:cNvPr id="712" name="Content Placeholder 2"/>
          <p:cNvSpPr txBox="1"/>
          <p:nvPr/>
        </p:nvSpPr>
        <p:spPr>
          <a:xfrm>
            <a:off x="1074671" y="1952625"/>
            <a:ext cx="10042658" cy="406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normAutofit/>
          </a:bodyPr>
          <a:lstStyle/>
          <a:p>
            <a:pPr marL="227396" indent="-227396" defTabSz="493776">
              <a:lnSpc>
                <a:spcPct val="115000"/>
              </a:lnSpc>
              <a:spcBef>
                <a:spcPts val="800"/>
              </a:spcBef>
              <a:buSzPct val="100000"/>
              <a:buChar char="•"/>
              <a:defRPr sz="2268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The beacon API specification does not implement explicit security (e.g. checking user authentication and authorization)</a:t>
            </a:r>
          </a:p>
          <a:p>
            <a:pPr marL="227396" indent="-227396" defTabSz="493776">
              <a:lnSpc>
                <a:spcPct val="115000"/>
              </a:lnSpc>
              <a:spcBef>
                <a:spcPts val="800"/>
              </a:spcBef>
              <a:buSzPct val="100000"/>
              <a:buChar char="•"/>
              <a:defRPr sz="2268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The framework implements different levels of response granularity which can be mapped to authorization levels (</a:t>
            </a:r>
            <a:r>
              <a:rPr b="1" dirty="0" err="1">
                <a:solidFill>
                  <a:srgbClr val="00F9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boolean</a:t>
            </a:r>
            <a:r>
              <a:rPr dirty="0"/>
              <a:t> / </a:t>
            </a:r>
            <a:r>
              <a:rPr b="1" dirty="0">
                <a:solidFill>
                  <a:srgbClr val="FF9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count</a:t>
            </a:r>
            <a:r>
              <a:rPr dirty="0"/>
              <a:t> / </a:t>
            </a:r>
            <a:r>
              <a:rPr b="1" dirty="0">
                <a:solidFill>
                  <a:srgbClr val="FF2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record</a:t>
            </a:r>
            <a:r>
              <a:rPr dirty="0"/>
              <a:t> level responses)</a:t>
            </a:r>
          </a:p>
          <a:p>
            <a:pPr marL="227396" indent="-227396" defTabSz="493776">
              <a:lnSpc>
                <a:spcPct val="115000"/>
              </a:lnSpc>
              <a:spcBef>
                <a:spcPts val="800"/>
              </a:spcBef>
              <a:buSzPct val="100000"/>
              <a:buChar char="•"/>
              <a:defRPr sz="2268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Implementations can have beacons running in secure environments with a </a:t>
            </a:r>
            <a:r>
              <a:rPr b="1" dirty="0">
                <a:latin typeface="Helvetica Neue"/>
                <a:ea typeface="Helvetica Neue"/>
                <a:cs typeface="Helvetica Neue"/>
                <a:sym typeface="Helvetica Neue"/>
              </a:rPr>
              <a:t>gatekeeper</a:t>
            </a:r>
            <a:r>
              <a:rPr dirty="0"/>
              <a:t> service  managing authentication and </a:t>
            </a:r>
            <a:r>
              <a:rPr dirty="0" err="1"/>
              <a:t>autorization</a:t>
            </a:r>
            <a:r>
              <a:rPr dirty="0"/>
              <a:t> levels, and potentially can filter responses for escalated levels</a:t>
            </a:r>
          </a:p>
          <a:p>
            <a:pPr marL="227396" indent="-227396" defTabSz="493776">
              <a:lnSpc>
                <a:spcPct val="115000"/>
              </a:lnSpc>
              <a:spcBef>
                <a:spcPts val="800"/>
              </a:spcBef>
              <a:buSzPct val="100000"/>
              <a:buChar char="•"/>
              <a:defRPr sz="2268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The backend can implement additional access reduction, on a user &lt;-&gt; dataset level if needed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Beacon v2 Implementation"/>
          <p:cNvSpPr txBox="1">
            <a:spLocks noGrp="1"/>
          </p:cNvSpPr>
          <p:nvPr>
            <p:ph type="title"/>
          </p:nvPr>
        </p:nvSpPr>
        <p:spPr>
          <a:xfrm>
            <a:off x="838200" y="487680"/>
            <a:ext cx="10515600" cy="1015287"/>
          </a:xfrm>
          <a:prstGeom prst="rect">
            <a:avLst/>
          </a:prstGeom>
        </p:spPr>
        <p:txBody>
          <a:bodyPr/>
          <a:lstStyle/>
          <a:p>
            <a:r>
              <a:t>Beacon v2 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B12A82-27DB-D24F-9958-0F7F2D420511}"/>
              </a:ext>
            </a:extLst>
          </p:cNvPr>
          <p:cNvSpPr txBox="1"/>
          <p:nvPr/>
        </p:nvSpPr>
        <p:spPr>
          <a:xfrm>
            <a:off x="508000" y="2095500"/>
            <a:ext cx="1143000" cy="3048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 anchorCtr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>
                <a:ln>
                  <a:noFill/>
                </a:ln>
                <a:solidFill>
                  <a:srgbClr val="475569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SERVER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0BAA4F-2EF2-3D47-8052-A971D603F3BD}"/>
              </a:ext>
            </a:extLst>
          </p:cNvPr>
          <p:cNvSpPr txBox="1"/>
          <p:nvPr/>
        </p:nvSpPr>
        <p:spPr>
          <a:xfrm>
            <a:off x="508000" y="5143500"/>
            <a:ext cx="1143000" cy="3048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 anchorCtr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>
                <a:ln>
                  <a:noFill/>
                </a:ln>
                <a:solidFill>
                  <a:srgbClr val="475569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CLIENT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5268AE-C2CB-6E47-9366-A7D3A02B11F9}"/>
              </a:ext>
            </a:extLst>
          </p:cNvPr>
          <p:cNvSpPr/>
          <p:nvPr/>
        </p:nvSpPr>
        <p:spPr>
          <a:xfrm>
            <a:off x="1333500" y="2095500"/>
            <a:ext cx="38100" cy="1397000"/>
          </a:xfrm>
          <a:prstGeom prst="rect">
            <a:avLst/>
          </a:prstGeom>
          <a:solidFill>
            <a:srgbClr val="1FA8E0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106393-47D8-7943-9877-76FF6624C01C}"/>
              </a:ext>
            </a:extLst>
          </p:cNvPr>
          <p:cNvSpPr/>
          <p:nvPr/>
        </p:nvSpPr>
        <p:spPr>
          <a:xfrm>
            <a:off x="1333500" y="5143500"/>
            <a:ext cx="38100" cy="1143000"/>
          </a:xfrm>
          <a:prstGeom prst="rect">
            <a:avLst/>
          </a:prstGeom>
          <a:solidFill>
            <a:srgbClr val="1FA8E0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9F481C6-8500-4145-96A6-F682F965C9D5}"/>
              </a:ext>
            </a:extLst>
          </p:cNvPr>
          <p:cNvSpPr/>
          <p:nvPr/>
        </p:nvSpPr>
        <p:spPr>
          <a:xfrm>
            <a:off x="1778000" y="1905000"/>
            <a:ext cx="4572000" cy="2095500"/>
          </a:xfrm>
          <a:prstGeom prst="roundRect">
            <a:avLst/>
          </a:prstGeom>
          <a:solidFill>
            <a:srgbClr val="F1F5F9"/>
          </a:solidFill>
          <a:ln w="12700" cap="flat">
            <a:solidFill>
              <a:srgbClr val="CBD5E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1C25A9-F89E-2B4D-BDDB-059505AC27B7}"/>
              </a:ext>
            </a:extLst>
          </p:cNvPr>
          <p:cNvSpPr txBox="1"/>
          <p:nvPr/>
        </p:nvSpPr>
        <p:spPr>
          <a:xfrm>
            <a:off x="2032000" y="2057400"/>
            <a:ext cx="2540000" cy="279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 anchorCtr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spc="0" normalizeH="0" baseline="0">
                <a:ln>
                  <a:noFill/>
                </a:ln>
                <a:solidFill>
                  <a:srgbClr val="0B3D5C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Framework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4A51243-5855-DD42-AEAD-87C140DEBE81}"/>
              </a:ext>
            </a:extLst>
          </p:cNvPr>
          <p:cNvSpPr/>
          <p:nvPr/>
        </p:nvSpPr>
        <p:spPr>
          <a:xfrm>
            <a:off x="2222500" y="2540000"/>
            <a:ext cx="3683000" cy="1143000"/>
          </a:xfrm>
          <a:prstGeom prst="roundRect">
            <a:avLst/>
          </a:prstGeom>
          <a:solidFill>
            <a:srgbClr val="1FA8E0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t" anchorCtr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Models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CFAE76-693D-874B-BEC2-B6FA08EB33C6}"/>
              </a:ext>
            </a:extLst>
          </p:cNvPr>
          <p:cNvSpPr txBox="1"/>
          <p:nvPr/>
        </p:nvSpPr>
        <p:spPr>
          <a:xfrm>
            <a:off x="2222500" y="3175000"/>
            <a:ext cx="3683000" cy="381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 anchorCtr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300" i="0" u="none" strike="noStrike" cap="none" spc="0" normalizeH="0" baseline="0">
                <a:ln>
                  <a:noFill/>
                </a:ln>
                <a:solidFill>
                  <a:srgbClr val="E0F2FE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data model · schemas · entities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C1A6A72-EF5C-7244-B9B4-74BB79C238E9}"/>
              </a:ext>
            </a:extLst>
          </p:cNvPr>
          <p:cNvSpPr/>
          <p:nvPr/>
        </p:nvSpPr>
        <p:spPr>
          <a:xfrm>
            <a:off x="7366000" y="2159000"/>
            <a:ext cx="1778000" cy="228600"/>
          </a:xfrm>
          <a:prstGeom prst="ellipse">
            <a:avLst/>
          </a:prstGeom>
          <a:solidFill>
            <a:srgbClr val="147AAB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4C2572-678B-A547-9373-B89025F2E76C}"/>
              </a:ext>
            </a:extLst>
          </p:cNvPr>
          <p:cNvSpPr/>
          <p:nvPr/>
        </p:nvSpPr>
        <p:spPr>
          <a:xfrm>
            <a:off x="7366000" y="2273300"/>
            <a:ext cx="1778000" cy="1422400"/>
          </a:xfrm>
          <a:prstGeom prst="rect">
            <a:avLst/>
          </a:prstGeom>
          <a:solidFill>
            <a:srgbClr val="147AAB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8650650-3DBF-9B42-A74D-3E921EB76329}"/>
              </a:ext>
            </a:extLst>
          </p:cNvPr>
          <p:cNvSpPr/>
          <p:nvPr/>
        </p:nvSpPr>
        <p:spPr>
          <a:xfrm>
            <a:off x="7366000" y="3581400"/>
            <a:ext cx="1778000" cy="228600"/>
          </a:xfrm>
          <a:prstGeom prst="ellipse">
            <a:avLst/>
          </a:prstGeom>
          <a:solidFill>
            <a:srgbClr val="147AAB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3D090B-9A23-DC4B-AA0A-55BFF7AB30D3}"/>
              </a:ext>
            </a:extLst>
          </p:cNvPr>
          <p:cNvSpPr/>
          <p:nvPr/>
        </p:nvSpPr>
        <p:spPr>
          <a:xfrm>
            <a:off x="7366000" y="2273300"/>
            <a:ext cx="1778000" cy="114300"/>
          </a:xfrm>
          <a:prstGeom prst="rect">
            <a:avLst/>
          </a:prstGeom>
          <a:solidFill>
            <a:srgbClr val="147AAB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40DACF-F2F9-F44D-8C60-5BF04C18CDDD}"/>
              </a:ext>
            </a:extLst>
          </p:cNvPr>
          <p:cNvSpPr txBox="1"/>
          <p:nvPr/>
        </p:nvSpPr>
        <p:spPr>
          <a:xfrm>
            <a:off x="7366000" y="2794000"/>
            <a:ext cx="1778000" cy="381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 anchorCtr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6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DB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F843A62-F29C-7442-B959-BB8FDD0CF04F}"/>
              </a:ext>
            </a:extLst>
          </p:cNvPr>
          <p:cNvCxnSpPr/>
          <p:nvPr/>
        </p:nvCxnSpPr>
        <p:spPr>
          <a:xfrm>
            <a:off x="6350000" y="2946400"/>
            <a:ext cx="1016000" cy="0"/>
          </a:xfrm>
          <a:prstGeom prst="straightConnector1">
            <a:avLst/>
          </a:prstGeom>
          <a:noFill/>
          <a:ln w="25400" cap="flat">
            <a:solidFill>
              <a:srgbClr val="475569"/>
            </a:solidFill>
            <a:prstDash val="solid"/>
            <a:miter lim="800000"/>
            <a:headEnd type="triangl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068081A-0CB9-074F-BDAE-03AA7D98768E}"/>
              </a:ext>
            </a:extLst>
          </p:cNvPr>
          <p:cNvSpPr/>
          <p:nvPr/>
        </p:nvSpPr>
        <p:spPr>
          <a:xfrm>
            <a:off x="3556000" y="4635500"/>
            <a:ext cx="2032000" cy="1397000"/>
          </a:xfrm>
          <a:prstGeom prst="roundRect">
            <a:avLst/>
          </a:prstGeom>
          <a:solidFill>
            <a:srgbClr val="0B3D5C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ctr" anchorCtr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HTTPS
API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8411DD1-9B1B-0847-99FF-6F6868117A4C}"/>
              </a:ext>
            </a:extLst>
          </p:cNvPr>
          <p:cNvSpPr/>
          <p:nvPr/>
        </p:nvSpPr>
        <p:spPr>
          <a:xfrm>
            <a:off x="9779000" y="4546600"/>
            <a:ext cx="482600" cy="482600"/>
          </a:xfrm>
          <a:prstGeom prst="ellipse">
            <a:avLst/>
          </a:prstGeom>
          <a:solidFill>
            <a:srgbClr val="0B3D5C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94EDB14-5963-AD4B-BA22-0C4DE72CA392}"/>
              </a:ext>
            </a:extLst>
          </p:cNvPr>
          <p:cNvSpPr/>
          <p:nvPr/>
        </p:nvSpPr>
        <p:spPr>
          <a:xfrm>
            <a:off x="9499600" y="5016500"/>
            <a:ext cx="1041400" cy="635000"/>
          </a:xfrm>
          <a:prstGeom prst="roundRect">
            <a:avLst/>
          </a:prstGeom>
          <a:solidFill>
            <a:srgbClr val="0B3D5C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2412A8-6208-4542-B2CC-3FF48BADB7B7}"/>
              </a:ext>
            </a:extLst>
          </p:cNvPr>
          <p:cNvSpPr txBox="1"/>
          <p:nvPr/>
        </p:nvSpPr>
        <p:spPr>
          <a:xfrm>
            <a:off x="9398000" y="5715000"/>
            <a:ext cx="1270000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 anchorCtr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>
                <a:ln>
                  <a:noFill/>
                </a:ln>
                <a:solidFill>
                  <a:srgbClr val="475569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Researcher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84F8F10-7FB3-E94E-9931-5E2D30176FE2}"/>
              </a:ext>
            </a:extLst>
          </p:cNvPr>
          <p:cNvCxnSpPr/>
          <p:nvPr/>
        </p:nvCxnSpPr>
        <p:spPr>
          <a:xfrm>
            <a:off x="4064000" y="4000500"/>
            <a:ext cx="0" cy="635000"/>
          </a:xfrm>
          <a:prstGeom prst="straightConnector1">
            <a:avLst/>
          </a:prstGeom>
          <a:noFill/>
          <a:ln w="25400" cap="flat">
            <a:solidFill>
              <a:srgbClr val="475569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6922567-49B3-8F42-94DF-FB1026EABAC8}"/>
              </a:ext>
            </a:extLst>
          </p:cNvPr>
          <p:cNvCxnSpPr/>
          <p:nvPr/>
        </p:nvCxnSpPr>
        <p:spPr>
          <a:xfrm>
            <a:off x="5588000" y="5016500"/>
            <a:ext cx="4191000" cy="0"/>
          </a:xfrm>
          <a:prstGeom prst="straightConnector1">
            <a:avLst/>
          </a:prstGeom>
          <a:noFill/>
          <a:ln w="31750" cap="flat">
            <a:solidFill>
              <a:srgbClr val="16A34A"/>
            </a:solidFill>
            <a:prstDash val="solid"/>
            <a:miter lim="800000"/>
            <a:headEnd type="triangl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83990CB-F4BE-8048-B9B1-DEF4393626A6}"/>
              </a:ext>
            </a:extLst>
          </p:cNvPr>
          <p:cNvCxnSpPr/>
          <p:nvPr/>
        </p:nvCxnSpPr>
        <p:spPr>
          <a:xfrm>
            <a:off x="5588000" y="5651500"/>
            <a:ext cx="4191000" cy="0"/>
          </a:xfrm>
          <a:prstGeom prst="straightConnector1">
            <a:avLst/>
          </a:prstGeom>
          <a:noFill/>
          <a:ln w="31750" cap="flat">
            <a:solidFill>
              <a:srgbClr val="16A34A"/>
            </a:solidFill>
            <a:prstDash val="solid"/>
            <a:miter lim="800000"/>
            <a:tailEnd type="triangl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BC0663E-3D78-074B-B030-AE31FCCBF920}"/>
              </a:ext>
            </a:extLst>
          </p:cNvPr>
          <p:cNvSpPr txBox="1"/>
          <p:nvPr/>
        </p:nvSpPr>
        <p:spPr>
          <a:xfrm>
            <a:off x="5715000" y="4699000"/>
            <a:ext cx="4064000" cy="279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 anchorCtr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>
                <a:ln>
                  <a:noFill/>
                </a:ln>
                <a:solidFill>
                  <a:srgbClr val="15803D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Request   (GET / POST + JSON)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3FC81D-4336-0041-A24B-9FE055F7B32F}"/>
              </a:ext>
            </a:extLst>
          </p:cNvPr>
          <p:cNvSpPr txBox="1"/>
          <p:nvPr/>
        </p:nvSpPr>
        <p:spPr>
          <a:xfrm>
            <a:off x="5715000" y="5842000"/>
            <a:ext cx="4064000" cy="279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 anchorCtr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>
                <a:ln>
                  <a:noFill/>
                </a:ln>
                <a:solidFill>
                  <a:srgbClr val="15803D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Response   (JSON)</a:t>
            </a:r>
          </a:p>
        </p:txBody>
      </p:sp>
    </p:spTree>
    <p:extLst>
      <p:ext uri="{BB962C8B-B14F-4D97-AF65-F5344CB8AC3E}">
        <p14:creationId xmlns:p14="http://schemas.microsoft.com/office/powerpoint/2010/main" val="352251852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Beacon v2 Implementation options"/>
          <p:cNvSpPr txBox="1">
            <a:spLocks noGrp="1"/>
          </p:cNvSpPr>
          <p:nvPr>
            <p:ph type="title"/>
          </p:nvPr>
        </p:nvSpPr>
        <p:spPr>
          <a:xfrm>
            <a:off x="838200" y="487680"/>
            <a:ext cx="10515600" cy="1015287"/>
          </a:xfrm>
          <a:prstGeom prst="rect">
            <a:avLst/>
          </a:prstGeom>
        </p:spPr>
        <p:txBody>
          <a:bodyPr/>
          <a:lstStyle/>
          <a:p>
            <a:r>
              <a:rPr dirty="0"/>
              <a:t>Beacon v2 Implementation options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086AC2C-AED7-8344-87E6-1C395DCBC9BF}"/>
              </a:ext>
            </a:extLst>
          </p:cNvPr>
          <p:cNvSpPr/>
          <p:nvPr/>
        </p:nvSpPr>
        <p:spPr>
          <a:xfrm>
            <a:off x="1016000" y="2095500"/>
            <a:ext cx="5842000" cy="3556000"/>
          </a:xfrm>
          <a:prstGeom prst="roundRect">
            <a:avLst/>
          </a:prstGeom>
          <a:solidFill>
            <a:srgbClr val="F1F5F9"/>
          </a:solidFill>
          <a:ln w="28575" cap="flat">
            <a:solidFill>
              <a:srgbClr val="3BB54A"/>
            </a:solidFill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C0ED73-5568-C341-9F0D-2E576BA7C571}"/>
              </a:ext>
            </a:extLst>
          </p:cNvPr>
          <p:cNvSpPr txBox="1"/>
          <p:nvPr/>
        </p:nvSpPr>
        <p:spPr>
          <a:xfrm>
            <a:off x="1206500" y="2222500"/>
            <a:ext cx="5461000" cy="3302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 anchorCtr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spc="0" normalizeH="0" baseline="0">
                <a:ln>
                  <a:noFill/>
                </a:ln>
                <a:solidFill>
                  <a:srgbClr val="0B3D5C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Beacon v2 Reference Implementation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59FF23E-D49A-8F41-9E58-AAEBCBEF5280}"/>
              </a:ext>
            </a:extLst>
          </p:cNvPr>
          <p:cNvSpPr/>
          <p:nvPr/>
        </p:nvSpPr>
        <p:spPr>
          <a:xfrm>
            <a:off x="1714500" y="3048000"/>
            <a:ext cx="1143000" cy="203200"/>
          </a:xfrm>
          <a:prstGeom prst="ellipse">
            <a:avLst/>
          </a:prstGeom>
          <a:solidFill>
            <a:srgbClr val="147AAB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5C7235-764C-5C4D-9DAB-8F7E5E64FC2B}"/>
              </a:ext>
            </a:extLst>
          </p:cNvPr>
          <p:cNvSpPr/>
          <p:nvPr/>
        </p:nvSpPr>
        <p:spPr>
          <a:xfrm>
            <a:off x="1714500" y="3149600"/>
            <a:ext cx="1143000" cy="1193800"/>
          </a:xfrm>
          <a:prstGeom prst="rect">
            <a:avLst/>
          </a:prstGeom>
          <a:solidFill>
            <a:srgbClr val="147AAB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8559A50-4F81-6344-A3AF-302D6F421882}"/>
              </a:ext>
            </a:extLst>
          </p:cNvPr>
          <p:cNvSpPr/>
          <p:nvPr/>
        </p:nvSpPr>
        <p:spPr>
          <a:xfrm>
            <a:off x="1714500" y="4241800"/>
            <a:ext cx="1143000" cy="203200"/>
          </a:xfrm>
          <a:prstGeom prst="ellipse">
            <a:avLst/>
          </a:prstGeom>
          <a:solidFill>
            <a:srgbClr val="147AAB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9330A4-65CB-0E42-8075-67CC8E0FE363}"/>
              </a:ext>
            </a:extLst>
          </p:cNvPr>
          <p:cNvSpPr/>
          <p:nvPr/>
        </p:nvSpPr>
        <p:spPr>
          <a:xfrm>
            <a:off x="1714500" y="3149600"/>
            <a:ext cx="1143000" cy="101600"/>
          </a:xfrm>
          <a:prstGeom prst="rect">
            <a:avLst/>
          </a:prstGeom>
          <a:solidFill>
            <a:srgbClr val="147AAB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B57D12-7257-EB4C-A6A8-DACAB030F9A8}"/>
              </a:ext>
            </a:extLst>
          </p:cNvPr>
          <p:cNvSpPr txBox="1"/>
          <p:nvPr/>
        </p:nvSpPr>
        <p:spPr>
          <a:xfrm>
            <a:off x="1587500" y="4572000"/>
            <a:ext cx="1397000" cy="2286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 anchorCtr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300" b="1" i="0" u="none" strike="noStrike" cap="none" spc="0" normalizeH="0" baseline="0">
                <a:ln>
                  <a:noFill/>
                </a:ln>
                <a:solidFill>
                  <a:srgbClr val="0B3D5C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Internal DB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382EA4-D821-6E40-A945-D6CADE2C0353}"/>
              </a:ext>
            </a:extLst>
          </p:cNvPr>
          <p:cNvSpPr txBox="1"/>
          <p:nvPr/>
        </p:nvSpPr>
        <p:spPr>
          <a:xfrm>
            <a:off x="1587500" y="4800600"/>
            <a:ext cx="1397000" cy="2032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 anchorCtr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i="0" u="none" strike="noStrike" cap="none" spc="0" normalizeH="0" baseline="0">
                <a:ln>
                  <a:noFill/>
                </a:ln>
                <a:solidFill>
                  <a:srgbClr val="475569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(MongoDB)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AB4F5DB-D2C1-B14C-85D2-547CA91D0EAE}"/>
              </a:ext>
            </a:extLst>
          </p:cNvPr>
          <p:cNvSpPr/>
          <p:nvPr/>
        </p:nvSpPr>
        <p:spPr>
          <a:xfrm>
            <a:off x="4064000" y="3175000"/>
            <a:ext cx="2286000" cy="1270000"/>
          </a:xfrm>
          <a:prstGeom prst="roundRect">
            <a:avLst/>
          </a:prstGeom>
          <a:solidFill>
            <a:srgbClr val="0B3D5C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ctr" anchorCtr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API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B04E9D6-2737-B14C-9BAC-A4F9E3091E68}"/>
              </a:ext>
            </a:extLst>
          </p:cNvPr>
          <p:cNvSpPr/>
          <p:nvPr/>
        </p:nvSpPr>
        <p:spPr>
          <a:xfrm>
            <a:off x="4254500" y="4572000"/>
            <a:ext cx="1905000" cy="406400"/>
          </a:xfrm>
          <a:prstGeom prst="roundRect">
            <a:avLst/>
          </a:prstGeom>
          <a:solidFill>
            <a:srgbClr val="FFFFFF"/>
          </a:solidFill>
          <a:ln w="12700" cap="flat">
            <a:solidFill>
              <a:srgbClr val="CBD5E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ctr" anchorCtr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300" b="1" i="0" u="none" strike="noStrike" cap="none" spc="0" normalizeH="0" baseline="0">
                <a:ln>
                  <a:noFill/>
                </a:ln>
                <a:solidFill>
                  <a:srgbClr val="0C4B33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Python  →  Django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6A8FCC-5699-0E4E-9AC2-47860CD6C24E}"/>
              </a:ext>
            </a:extLst>
          </p:cNvPr>
          <p:cNvSpPr txBox="1"/>
          <p:nvPr/>
        </p:nvSpPr>
        <p:spPr>
          <a:xfrm>
            <a:off x="1206500" y="5207000"/>
            <a:ext cx="5461000" cy="279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 anchorCtr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i="0" u="none" strike="noStrike" cap="none" spc="0" normalizeH="0" baseline="0" dirty="0">
                <a:ln>
                  <a:noFill/>
                </a:ln>
                <a:solidFill>
                  <a:srgbClr val="475569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Typical beacon implementation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0BCE582-7E13-2340-A85F-392BCD395013}"/>
              </a:ext>
            </a:extLst>
          </p:cNvPr>
          <p:cNvCxnSpPr/>
          <p:nvPr/>
        </p:nvCxnSpPr>
        <p:spPr>
          <a:xfrm>
            <a:off x="2857500" y="3746500"/>
            <a:ext cx="1206500" cy="0"/>
          </a:xfrm>
          <a:prstGeom prst="straightConnector1">
            <a:avLst/>
          </a:prstGeom>
          <a:noFill/>
          <a:ln w="25400" cap="flat">
            <a:solidFill>
              <a:srgbClr val="475569"/>
            </a:solidFill>
            <a:prstDash val="solid"/>
            <a:miter lim="800000"/>
            <a:headEnd type="triangle" w="med" len="med"/>
            <a:tailEnd type="triangl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04B4F17-B4E1-214A-BFA1-725DFE6EB9CB}"/>
              </a:ext>
            </a:extLst>
          </p:cNvPr>
          <p:cNvSpPr txBox="1"/>
          <p:nvPr/>
        </p:nvSpPr>
        <p:spPr>
          <a:xfrm>
            <a:off x="7366000" y="2222500"/>
            <a:ext cx="4064000" cy="279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 anchorCtr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>
                <a:ln>
                  <a:noFill/>
                </a:ln>
                <a:solidFill>
                  <a:srgbClr val="0B3D5C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Federated data sources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1107EB-F409-F242-B62B-4F84D3E3F82F}"/>
              </a:ext>
            </a:extLst>
          </p:cNvPr>
          <p:cNvSpPr txBox="1"/>
          <p:nvPr/>
        </p:nvSpPr>
        <p:spPr>
          <a:xfrm>
            <a:off x="7366000" y="2501900"/>
            <a:ext cx="4064000" cy="2032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 anchorCtr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i="0" u="none" strike="noStrike" cap="none" spc="0" normalizeH="0" baseline="0">
                <a:ln>
                  <a:noFill/>
                </a:ln>
                <a:solidFill>
                  <a:srgbClr val="475569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Independent Beacons exposing local genomic data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A7D4B5B-102F-6E4B-92AE-C31BDB0BAC1D}"/>
              </a:ext>
            </a:extLst>
          </p:cNvPr>
          <p:cNvSpPr/>
          <p:nvPr/>
        </p:nvSpPr>
        <p:spPr>
          <a:xfrm>
            <a:off x="8128000" y="3048000"/>
            <a:ext cx="2540000" cy="762000"/>
          </a:xfrm>
          <a:prstGeom prst="roundRect">
            <a:avLst/>
          </a:prstGeom>
          <a:solidFill>
            <a:srgbClr val="FFFFFF"/>
          </a:solidFill>
          <a:ln w="12700" cap="flat">
            <a:solidFill>
              <a:srgbClr val="CBD5E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A823459-7AC6-F74F-9923-D2846CCA5A3E}"/>
              </a:ext>
            </a:extLst>
          </p:cNvPr>
          <p:cNvSpPr/>
          <p:nvPr/>
        </p:nvSpPr>
        <p:spPr>
          <a:xfrm>
            <a:off x="8280400" y="3225800"/>
            <a:ext cx="177800" cy="177800"/>
          </a:xfrm>
          <a:prstGeom prst="ellipse">
            <a:avLst/>
          </a:prstGeom>
          <a:solidFill>
            <a:srgbClr val="3BB54A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2AA3CB3-D83C-AA47-B04E-36C3B8074161}"/>
              </a:ext>
            </a:extLst>
          </p:cNvPr>
          <p:cNvSpPr/>
          <p:nvPr/>
        </p:nvSpPr>
        <p:spPr>
          <a:xfrm>
            <a:off x="8280400" y="3454400"/>
            <a:ext cx="177800" cy="177800"/>
          </a:xfrm>
          <a:prstGeom prst="ellipse">
            <a:avLst/>
          </a:prstGeom>
          <a:solidFill>
            <a:srgbClr val="0B3D5C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2520B2-96B7-F442-84A0-186A78507158}"/>
              </a:ext>
            </a:extLst>
          </p:cNvPr>
          <p:cNvSpPr txBox="1"/>
          <p:nvPr/>
        </p:nvSpPr>
        <p:spPr>
          <a:xfrm>
            <a:off x="8585200" y="3149600"/>
            <a:ext cx="2006600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 anchorCtr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300" b="1" i="0" u="none" strike="noStrike" cap="none" spc="0" normalizeH="0" baseline="0">
                <a:ln>
                  <a:noFill/>
                </a:ln>
                <a:solidFill>
                  <a:srgbClr val="0B3D5C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Genomic Source 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C8E6F4-B3B2-3641-94A7-3535B4751253}"/>
              </a:ext>
            </a:extLst>
          </p:cNvPr>
          <p:cNvSpPr txBox="1"/>
          <p:nvPr/>
        </p:nvSpPr>
        <p:spPr>
          <a:xfrm>
            <a:off x="8585200" y="3429000"/>
            <a:ext cx="2006600" cy="2286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 anchorCtr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i="0" u="none" strike="noStrike" cap="none" spc="0" normalizeH="0" baseline="0">
                <a:ln>
                  <a:noFill/>
                </a:ln>
                <a:solidFill>
                  <a:srgbClr val="475569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Beacon endpoint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F6DDDF0-CF18-CE45-8CBC-C92BED581109}"/>
              </a:ext>
            </a:extLst>
          </p:cNvPr>
          <p:cNvSpPr/>
          <p:nvPr/>
        </p:nvSpPr>
        <p:spPr>
          <a:xfrm>
            <a:off x="8128000" y="3873500"/>
            <a:ext cx="2540000" cy="762000"/>
          </a:xfrm>
          <a:prstGeom prst="roundRect">
            <a:avLst/>
          </a:prstGeom>
          <a:solidFill>
            <a:srgbClr val="FFFFFF"/>
          </a:solidFill>
          <a:ln w="12700" cap="flat">
            <a:solidFill>
              <a:srgbClr val="CBD5E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A492879-0A64-9A48-B42D-DE1061F48AE8}"/>
              </a:ext>
            </a:extLst>
          </p:cNvPr>
          <p:cNvSpPr/>
          <p:nvPr/>
        </p:nvSpPr>
        <p:spPr>
          <a:xfrm>
            <a:off x="8280400" y="4051300"/>
            <a:ext cx="177800" cy="177800"/>
          </a:xfrm>
          <a:prstGeom prst="ellipse">
            <a:avLst/>
          </a:prstGeom>
          <a:solidFill>
            <a:srgbClr val="3BB54A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89EBEC1-2DD3-344D-962C-16D17F4805C8}"/>
              </a:ext>
            </a:extLst>
          </p:cNvPr>
          <p:cNvSpPr/>
          <p:nvPr/>
        </p:nvSpPr>
        <p:spPr>
          <a:xfrm>
            <a:off x="8280400" y="4279900"/>
            <a:ext cx="177800" cy="177800"/>
          </a:xfrm>
          <a:prstGeom prst="ellipse">
            <a:avLst/>
          </a:prstGeom>
          <a:solidFill>
            <a:srgbClr val="0B3D5C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E40B98-D62F-1B45-A127-33789C21FF19}"/>
              </a:ext>
            </a:extLst>
          </p:cNvPr>
          <p:cNvSpPr txBox="1"/>
          <p:nvPr/>
        </p:nvSpPr>
        <p:spPr>
          <a:xfrm>
            <a:off x="8585200" y="3975100"/>
            <a:ext cx="2006600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 anchorCtr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300" b="1" i="0" u="none" strike="noStrike" cap="none" spc="0" normalizeH="0" baseline="0">
                <a:ln>
                  <a:noFill/>
                </a:ln>
                <a:solidFill>
                  <a:srgbClr val="0B3D5C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Genomic Source 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49E75F-46BA-3340-9E8E-34079700A072}"/>
              </a:ext>
            </a:extLst>
          </p:cNvPr>
          <p:cNvSpPr txBox="1"/>
          <p:nvPr/>
        </p:nvSpPr>
        <p:spPr>
          <a:xfrm>
            <a:off x="8585200" y="4254500"/>
            <a:ext cx="2006600" cy="2286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 anchorCtr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i="0" u="none" strike="noStrike" cap="none" spc="0" normalizeH="0" baseline="0">
                <a:ln>
                  <a:noFill/>
                </a:ln>
                <a:solidFill>
                  <a:srgbClr val="475569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Beacon endpoint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53A58F2-5A08-464A-B8B1-16BA8A581EA0}"/>
              </a:ext>
            </a:extLst>
          </p:cNvPr>
          <p:cNvSpPr/>
          <p:nvPr/>
        </p:nvSpPr>
        <p:spPr>
          <a:xfrm>
            <a:off x="8128000" y="4699000"/>
            <a:ext cx="2540000" cy="762000"/>
          </a:xfrm>
          <a:prstGeom prst="roundRect">
            <a:avLst/>
          </a:prstGeom>
          <a:solidFill>
            <a:srgbClr val="FFFFFF"/>
          </a:solidFill>
          <a:ln w="12700" cap="flat">
            <a:solidFill>
              <a:srgbClr val="CBD5E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7622D17-6067-EA4F-9A1B-1BB45A4A8EDC}"/>
              </a:ext>
            </a:extLst>
          </p:cNvPr>
          <p:cNvSpPr/>
          <p:nvPr/>
        </p:nvSpPr>
        <p:spPr>
          <a:xfrm>
            <a:off x="8280400" y="4876800"/>
            <a:ext cx="177800" cy="177800"/>
          </a:xfrm>
          <a:prstGeom prst="ellipse">
            <a:avLst/>
          </a:prstGeom>
          <a:solidFill>
            <a:srgbClr val="3BB54A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5ECD8D4-0E36-5E41-B8EC-F43F1CBA1128}"/>
              </a:ext>
            </a:extLst>
          </p:cNvPr>
          <p:cNvSpPr/>
          <p:nvPr/>
        </p:nvSpPr>
        <p:spPr>
          <a:xfrm>
            <a:off x="8280400" y="5105400"/>
            <a:ext cx="177800" cy="177800"/>
          </a:xfrm>
          <a:prstGeom prst="ellipse">
            <a:avLst/>
          </a:prstGeom>
          <a:solidFill>
            <a:srgbClr val="0B3D5C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clip" horzOverflow="clip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744787-8B36-784E-BED3-B2E7C88CC4D9}"/>
              </a:ext>
            </a:extLst>
          </p:cNvPr>
          <p:cNvSpPr txBox="1"/>
          <p:nvPr/>
        </p:nvSpPr>
        <p:spPr>
          <a:xfrm>
            <a:off x="8585200" y="4800600"/>
            <a:ext cx="2006600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 anchorCtr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300" b="1" i="0" u="none" strike="noStrike" cap="none" spc="0" normalizeH="0" baseline="0">
                <a:ln>
                  <a:noFill/>
                </a:ln>
                <a:solidFill>
                  <a:srgbClr val="0B3D5C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Genomic Source 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A17360-48E1-7542-BFE4-93199F579BBE}"/>
              </a:ext>
            </a:extLst>
          </p:cNvPr>
          <p:cNvSpPr txBox="1"/>
          <p:nvPr/>
        </p:nvSpPr>
        <p:spPr>
          <a:xfrm>
            <a:off x="8585200" y="5080000"/>
            <a:ext cx="2006600" cy="2286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 anchorCtr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i="0" u="none" strike="noStrike" cap="none" spc="0" normalizeH="0" baseline="0">
                <a:ln>
                  <a:noFill/>
                </a:ln>
                <a:solidFill>
                  <a:srgbClr val="475569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Beacon endpoint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E05E6C1-9329-C847-A8F9-C90AC978AF69}"/>
              </a:ext>
            </a:extLst>
          </p:cNvPr>
          <p:cNvCxnSpPr/>
          <p:nvPr/>
        </p:nvCxnSpPr>
        <p:spPr>
          <a:xfrm>
            <a:off x="6350000" y="3429000"/>
            <a:ext cx="1778000" cy="0"/>
          </a:xfrm>
          <a:prstGeom prst="straightConnector1">
            <a:avLst/>
          </a:prstGeom>
          <a:noFill/>
          <a:ln w="22225" cap="flat">
            <a:solidFill>
              <a:srgbClr val="475569"/>
            </a:solidFill>
            <a:prstDash val="solid"/>
            <a:miter lim="800000"/>
            <a:tailEnd type="triangl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7D7DDEA-E976-394D-9D21-9CB20CC813FC}"/>
              </a:ext>
            </a:extLst>
          </p:cNvPr>
          <p:cNvCxnSpPr/>
          <p:nvPr/>
        </p:nvCxnSpPr>
        <p:spPr>
          <a:xfrm>
            <a:off x="6350000" y="4254500"/>
            <a:ext cx="1778000" cy="0"/>
          </a:xfrm>
          <a:prstGeom prst="straightConnector1">
            <a:avLst/>
          </a:prstGeom>
          <a:noFill/>
          <a:ln w="22225" cap="flat">
            <a:solidFill>
              <a:srgbClr val="475569"/>
            </a:solidFill>
            <a:prstDash val="solid"/>
            <a:miter lim="800000"/>
            <a:tailEnd type="triangl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1CE78E6-3121-8B42-9834-DFACDD5AB0DE}"/>
              </a:ext>
            </a:extLst>
          </p:cNvPr>
          <p:cNvCxnSpPr/>
          <p:nvPr/>
        </p:nvCxnSpPr>
        <p:spPr>
          <a:xfrm>
            <a:off x="6350000" y="5080000"/>
            <a:ext cx="1778000" cy="0"/>
          </a:xfrm>
          <a:prstGeom prst="straightConnector1">
            <a:avLst/>
          </a:prstGeom>
          <a:noFill/>
          <a:ln w="22225" cap="flat">
            <a:solidFill>
              <a:srgbClr val="475569"/>
            </a:solidFill>
            <a:prstDash val="solid"/>
            <a:miter lim="800000"/>
            <a:tailEnd type="triangl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56692033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64592" cy="914400"/>
          </a:xfrm>
          <a:prstGeom prst="rect">
            <a:avLst/>
          </a:prstGeom>
          <a:solidFill>
            <a:srgbClr val="C8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2E4F"/>
                </a:solidFill>
              </a:defRPr>
            </a:pPr>
            <a:r>
              <a:rPr lang="en-US" sz="3200" b="1" dirty="0">
                <a:solidFill>
                  <a:srgbClr val="0B2E4F"/>
                </a:solidFill>
              </a:rPr>
              <a:t>What you can build</a:t>
            </a:r>
            <a:r>
              <a:rPr lang="en-US" sz="3200" b="0" dirty="0">
                <a:solidFill>
                  <a:srgbClr val="475569"/>
                </a:solidFill>
              </a:rPr>
              <a:t>  ·  16 honours-project ideas across 7 themes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63640"/>
            <a:ext cx="845712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i="1">
                <a:solidFill>
                  <a:srgbClr val="475569"/>
                </a:solidFill>
              </a:defRPr>
            </a:pPr>
            <a:r>
              <a:rPr lang="en-US" sz="1400" i="1" dirty="0">
                <a:solidFill>
                  <a:srgbClr val="475569"/>
                </a:solidFill>
              </a:rPr>
              <a:t>Each project pairs an engineering deliverable with a measurable research result · 4–6 months · scoped for honours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75C6649-9D49-9444-9569-B69BBA937B71}"/>
              </a:ext>
            </a:extLst>
          </p:cNvPr>
          <p:cNvSpPr/>
          <p:nvPr/>
        </p:nvSpPr>
        <p:spPr>
          <a:xfrm>
            <a:off x="774700" y="1752600"/>
            <a:ext cx="2565400" cy="1388533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BD5E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B05D8C-60BB-CB48-948C-85B48136B61A}"/>
              </a:ext>
            </a:extLst>
          </p:cNvPr>
          <p:cNvSpPr/>
          <p:nvPr/>
        </p:nvSpPr>
        <p:spPr>
          <a:xfrm>
            <a:off x="774700" y="1752600"/>
            <a:ext cx="2565400" cy="63500"/>
          </a:xfrm>
          <a:prstGeom prst="rect">
            <a:avLst/>
          </a:prstGeom>
          <a:solidFill>
            <a:srgbClr val="DC262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0E1863-C2B5-4D42-A2E2-EBBDB59AE640}"/>
              </a:ext>
            </a:extLst>
          </p:cNvPr>
          <p:cNvSpPr txBox="1"/>
          <p:nvPr/>
        </p:nvSpPr>
        <p:spPr>
          <a:xfrm>
            <a:off x="901700" y="1879600"/>
            <a:ext cx="3048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b="1">
                <a:solidFill>
                  <a:srgbClr val="DC2626"/>
                </a:solidFill>
              </a:rPr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121687-DD07-084E-9D8A-D27FD82294AB}"/>
              </a:ext>
            </a:extLst>
          </p:cNvPr>
          <p:cNvSpPr txBox="1"/>
          <p:nvPr/>
        </p:nvSpPr>
        <p:spPr>
          <a:xfrm>
            <a:off x="1231900" y="1905000"/>
            <a:ext cx="20066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0B2E4F"/>
                </a:solidFill>
              </a:rPr>
              <a:t>Privacy &amp; security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C294A4-3201-CD42-AB9E-DE8FEA6BCA90}"/>
              </a:ext>
            </a:extLst>
          </p:cNvPr>
          <p:cNvSpPr/>
          <p:nvPr/>
        </p:nvSpPr>
        <p:spPr>
          <a:xfrm>
            <a:off x="901700" y="2235200"/>
            <a:ext cx="2311400" cy="9525"/>
          </a:xfrm>
          <a:prstGeom prst="rect">
            <a:avLst/>
          </a:prstGeom>
          <a:solidFill>
            <a:srgbClr val="CBD5E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B8B66D0-0D59-5146-B5C1-90426AD67A04}"/>
              </a:ext>
            </a:extLst>
          </p:cNvPr>
          <p:cNvSpPr/>
          <p:nvPr/>
        </p:nvSpPr>
        <p:spPr>
          <a:xfrm>
            <a:off x="3467100" y="1752600"/>
            <a:ext cx="2565400" cy="1388533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BD5E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BEAC3F-8373-2644-B42D-3B3890CD9D00}"/>
              </a:ext>
            </a:extLst>
          </p:cNvPr>
          <p:cNvSpPr/>
          <p:nvPr/>
        </p:nvSpPr>
        <p:spPr>
          <a:xfrm>
            <a:off x="3467100" y="1752600"/>
            <a:ext cx="2565400" cy="63500"/>
          </a:xfrm>
          <a:prstGeom prst="rect">
            <a:avLst/>
          </a:prstGeom>
          <a:solidFill>
            <a:srgbClr val="0891B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9A9A2D-E400-B740-BFA4-BBF15A94C025}"/>
              </a:ext>
            </a:extLst>
          </p:cNvPr>
          <p:cNvSpPr txBox="1"/>
          <p:nvPr/>
        </p:nvSpPr>
        <p:spPr>
          <a:xfrm>
            <a:off x="3594100" y="1879600"/>
            <a:ext cx="3048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b="1">
                <a:solidFill>
                  <a:srgbClr val="0891B2"/>
                </a:solidFill>
              </a:rPr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B896A8-142F-B248-A445-ACCEE4694EA7}"/>
              </a:ext>
            </a:extLst>
          </p:cNvPr>
          <p:cNvSpPr txBox="1"/>
          <p:nvPr/>
        </p:nvSpPr>
        <p:spPr>
          <a:xfrm>
            <a:off x="3924300" y="1905000"/>
            <a:ext cx="20066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0B2E4F"/>
                </a:solidFill>
              </a:rPr>
              <a:t>Federation &amp; networking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56C79E-7887-8341-AF23-2037E373026F}"/>
              </a:ext>
            </a:extLst>
          </p:cNvPr>
          <p:cNvSpPr/>
          <p:nvPr/>
        </p:nvSpPr>
        <p:spPr>
          <a:xfrm>
            <a:off x="3594100" y="2235200"/>
            <a:ext cx="2311400" cy="9525"/>
          </a:xfrm>
          <a:prstGeom prst="rect">
            <a:avLst/>
          </a:prstGeom>
          <a:solidFill>
            <a:srgbClr val="CBD5E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6320DF1-4F46-1C48-B9B2-C092C76536DC}"/>
              </a:ext>
            </a:extLst>
          </p:cNvPr>
          <p:cNvSpPr/>
          <p:nvPr/>
        </p:nvSpPr>
        <p:spPr>
          <a:xfrm>
            <a:off x="6159500" y="1752600"/>
            <a:ext cx="2565400" cy="1388533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BD5E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A45576-53BA-ED4B-86FA-3E01862AEC33}"/>
              </a:ext>
            </a:extLst>
          </p:cNvPr>
          <p:cNvSpPr/>
          <p:nvPr/>
        </p:nvSpPr>
        <p:spPr>
          <a:xfrm>
            <a:off x="6159500" y="1752600"/>
            <a:ext cx="2565400" cy="63500"/>
          </a:xfrm>
          <a:prstGeom prst="rect">
            <a:avLst/>
          </a:prstGeom>
          <a:solidFill>
            <a:srgbClr val="7C3AE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C765E9-F837-FC4B-A4F8-0AB4F7F7D7C0}"/>
              </a:ext>
            </a:extLst>
          </p:cNvPr>
          <p:cNvSpPr txBox="1"/>
          <p:nvPr/>
        </p:nvSpPr>
        <p:spPr>
          <a:xfrm>
            <a:off x="6286500" y="1879600"/>
            <a:ext cx="3048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b="1">
                <a:solidFill>
                  <a:srgbClr val="7C3AED"/>
                </a:solidFill>
              </a:rPr>
              <a:t>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053E74-AB5D-2E43-8020-C3B02472E517}"/>
              </a:ext>
            </a:extLst>
          </p:cNvPr>
          <p:cNvSpPr txBox="1"/>
          <p:nvPr/>
        </p:nvSpPr>
        <p:spPr>
          <a:xfrm>
            <a:off x="6616700" y="1905000"/>
            <a:ext cx="20066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0B2E4F"/>
                </a:solidFill>
              </a:rPr>
              <a:t>Standards &amp; conformance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1F089A-C8BA-5540-92E6-8C23EDBDD473}"/>
              </a:ext>
            </a:extLst>
          </p:cNvPr>
          <p:cNvSpPr/>
          <p:nvPr/>
        </p:nvSpPr>
        <p:spPr>
          <a:xfrm>
            <a:off x="6286500" y="2235200"/>
            <a:ext cx="2311400" cy="9525"/>
          </a:xfrm>
          <a:prstGeom prst="rect">
            <a:avLst/>
          </a:prstGeom>
          <a:solidFill>
            <a:srgbClr val="CBD5E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67F1A65-B7B3-6849-91B8-D801695352C6}"/>
              </a:ext>
            </a:extLst>
          </p:cNvPr>
          <p:cNvSpPr/>
          <p:nvPr/>
        </p:nvSpPr>
        <p:spPr>
          <a:xfrm>
            <a:off x="8851900" y="1752600"/>
            <a:ext cx="2565400" cy="1388533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BD5E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0B5838-2E2C-CA44-8B7F-B684CC9457FE}"/>
              </a:ext>
            </a:extLst>
          </p:cNvPr>
          <p:cNvSpPr/>
          <p:nvPr/>
        </p:nvSpPr>
        <p:spPr>
          <a:xfrm>
            <a:off x="8851900" y="1752600"/>
            <a:ext cx="2565400" cy="63500"/>
          </a:xfrm>
          <a:prstGeom prst="rect">
            <a:avLst/>
          </a:prstGeom>
          <a:solidFill>
            <a:srgbClr val="0B3D5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2CFC87-1418-274A-8C0B-EDFFFF37D1ED}"/>
              </a:ext>
            </a:extLst>
          </p:cNvPr>
          <p:cNvSpPr txBox="1"/>
          <p:nvPr/>
        </p:nvSpPr>
        <p:spPr>
          <a:xfrm>
            <a:off x="8978900" y="1879600"/>
            <a:ext cx="3048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b="1">
                <a:solidFill>
                  <a:srgbClr val="0B3D5C"/>
                </a:solidFill>
              </a:rPr>
              <a:t>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F6B6B6-59E3-8E4E-A6E7-CACD95240EE8}"/>
              </a:ext>
            </a:extLst>
          </p:cNvPr>
          <p:cNvSpPr txBox="1"/>
          <p:nvPr/>
        </p:nvSpPr>
        <p:spPr>
          <a:xfrm>
            <a:off x="9309100" y="1905000"/>
            <a:ext cx="20066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0B2E4F"/>
                </a:solidFill>
              </a:rPr>
              <a:t>Clinical &amp; phenotype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239600-ABE5-B141-8A95-806201EF4AF2}"/>
              </a:ext>
            </a:extLst>
          </p:cNvPr>
          <p:cNvSpPr/>
          <p:nvPr/>
        </p:nvSpPr>
        <p:spPr>
          <a:xfrm>
            <a:off x="8978900" y="2235200"/>
            <a:ext cx="2311400" cy="9525"/>
          </a:xfrm>
          <a:prstGeom prst="rect">
            <a:avLst/>
          </a:prstGeom>
          <a:solidFill>
            <a:srgbClr val="CBD5E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0607953-236A-EE4D-938C-DC0DF5A7C464}"/>
              </a:ext>
            </a:extLst>
          </p:cNvPr>
          <p:cNvSpPr/>
          <p:nvPr/>
        </p:nvSpPr>
        <p:spPr>
          <a:xfrm>
            <a:off x="774700" y="3268133"/>
            <a:ext cx="2565400" cy="1388533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BD5E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86AC9AA-8392-3B44-8419-6683485D887A}"/>
              </a:ext>
            </a:extLst>
          </p:cNvPr>
          <p:cNvSpPr/>
          <p:nvPr/>
        </p:nvSpPr>
        <p:spPr>
          <a:xfrm>
            <a:off x="774700" y="3268133"/>
            <a:ext cx="2565400" cy="63500"/>
          </a:xfrm>
          <a:prstGeom prst="rect">
            <a:avLst/>
          </a:prstGeom>
          <a:solidFill>
            <a:srgbClr val="DB277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9E66C8-E6E5-9944-821F-5DBD4DEC5C22}"/>
              </a:ext>
            </a:extLst>
          </p:cNvPr>
          <p:cNvSpPr txBox="1"/>
          <p:nvPr/>
        </p:nvSpPr>
        <p:spPr>
          <a:xfrm>
            <a:off x="901700" y="3395133"/>
            <a:ext cx="3048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b="1">
                <a:solidFill>
                  <a:srgbClr val="DB2777"/>
                </a:solidFill>
              </a:rPr>
              <a:t>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A2CBE9-0B11-B449-9793-B6D59B2108AE}"/>
              </a:ext>
            </a:extLst>
          </p:cNvPr>
          <p:cNvSpPr txBox="1"/>
          <p:nvPr/>
        </p:nvSpPr>
        <p:spPr>
          <a:xfrm>
            <a:off x="1231900" y="3420533"/>
            <a:ext cx="20066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0B2E4F"/>
                </a:solidFill>
              </a:rPr>
              <a:t>UX &amp; visualisation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D195DC5-060E-1F43-B111-60B3C9C86EE5}"/>
              </a:ext>
            </a:extLst>
          </p:cNvPr>
          <p:cNvSpPr/>
          <p:nvPr/>
        </p:nvSpPr>
        <p:spPr>
          <a:xfrm>
            <a:off x="901700" y="3750733"/>
            <a:ext cx="2311400" cy="9525"/>
          </a:xfrm>
          <a:prstGeom prst="rect">
            <a:avLst/>
          </a:prstGeom>
          <a:solidFill>
            <a:srgbClr val="CBD5E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71CABE8-CBE4-4244-8A3D-BCA9C20CFEDC}"/>
              </a:ext>
            </a:extLst>
          </p:cNvPr>
          <p:cNvSpPr/>
          <p:nvPr/>
        </p:nvSpPr>
        <p:spPr>
          <a:xfrm>
            <a:off x="3467100" y="3268133"/>
            <a:ext cx="2565400" cy="1388533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BD5E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08C5E09-974C-EC42-8FB9-34B721D6BEF5}"/>
              </a:ext>
            </a:extLst>
          </p:cNvPr>
          <p:cNvSpPr/>
          <p:nvPr/>
        </p:nvSpPr>
        <p:spPr>
          <a:xfrm>
            <a:off x="3467100" y="3268133"/>
            <a:ext cx="2565400" cy="63500"/>
          </a:xfrm>
          <a:prstGeom prst="rect">
            <a:avLst/>
          </a:prstGeom>
          <a:solidFill>
            <a:srgbClr val="65A30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BC685E-46BE-224E-BF77-8AFF9B0734A4}"/>
              </a:ext>
            </a:extLst>
          </p:cNvPr>
          <p:cNvSpPr txBox="1"/>
          <p:nvPr/>
        </p:nvSpPr>
        <p:spPr>
          <a:xfrm>
            <a:off x="3594100" y="3395133"/>
            <a:ext cx="3048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b="1">
                <a:solidFill>
                  <a:srgbClr val="65A30D"/>
                </a:solidFill>
              </a:rPr>
              <a:t>F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E457C0-D1EB-494D-AEB7-DF1D72C0042B}"/>
              </a:ext>
            </a:extLst>
          </p:cNvPr>
          <p:cNvSpPr txBox="1"/>
          <p:nvPr/>
        </p:nvSpPr>
        <p:spPr>
          <a:xfrm>
            <a:off x="3924300" y="3420533"/>
            <a:ext cx="20066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0B2E4F"/>
                </a:solidFill>
              </a:rPr>
              <a:t>Infrastructure &amp; data eng.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C3CCD4B-4638-5F4E-9AAA-A3C6C36781EF}"/>
              </a:ext>
            </a:extLst>
          </p:cNvPr>
          <p:cNvSpPr/>
          <p:nvPr/>
        </p:nvSpPr>
        <p:spPr>
          <a:xfrm>
            <a:off x="3594100" y="3750733"/>
            <a:ext cx="2311400" cy="9525"/>
          </a:xfrm>
          <a:prstGeom prst="rect">
            <a:avLst/>
          </a:prstGeom>
          <a:solidFill>
            <a:srgbClr val="CBD5E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C2215BA-D455-E348-84DD-E29435012EEB}"/>
              </a:ext>
            </a:extLst>
          </p:cNvPr>
          <p:cNvSpPr/>
          <p:nvPr/>
        </p:nvSpPr>
        <p:spPr>
          <a:xfrm>
            <a:off x="6159500" y="3268133"/>
            <a:ext cx="5257800" cy="2904066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BD5E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5A9C5AF-BA44-FA4A-8BD4-CFF284FD2482}"/>
              </a:ext>
            </a:extLst>
          </p:cNvPr>
          <p:cNvSpPr/>
          <p:nvPr/>
        </p:nvSpPr>
        <p:spPr>
          <a:xfrm>
            <a:off x="6159500" y="3268133"/>
            <a:ext cx="5257800" cy="63500"/>
          </a:xfrm>
          <a:prstGeom prst="rect">
            <a:avLst/>
          </a:prstGeom>
          <a:solidFill>
            <a:srgbClr val="EA580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40D009-97F1-FF47-98F2-DFC49DBC96B5}"/>
              </a:ext>
            </a:extLst>
          </p:cNvPr>
          <p:cNvSpPr txBox="1"/>
          <p:nvPr/>
        </p:nvSpPr>
        <p:spPr>
          <a:xfrm>
            <a:off x="6286500" y="3395133"/>
            <a:ext cx="3048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b="1">
                <a:solidFill>
                  <a:srgbClr val="EA580C"/>
                </a:solidFill>
              </a:rPr>
              <a:t>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08275EA-8B14-444B-BE47-61E4D169DF1C}"/>
              </a:ext>
            </a:extLst>
          </p:cNvPr>
          <p:cNvSpPr txBox="1"/>
          <p:nvPr/>
        </p:nvSpPr>
        <p:spPr>
          <a:xfrm>
            <a:off x="6616700" y="3420533"/>
            <a:ext cx="4699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0B2E4F"/>
                </a:solidFill>
              </a:rPr>
              <a:t>Other Beacon types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3A58F37-EE77-D347-B91F-DF739F27EA0D}"/>
              </a:ext>
            </a:extLst>
          </p:cNvPr>
          <p:cNvSpPr/>
          <p:nvPr/>
        </p:nvSpPr>
        <p:spPr>
          <a:xfrm>
            <a:off x="6286500" y="3750733"/>
            <a:ext cx="5003800" cy="9525"/>
          </a:xfrm>
          <a:prstGeom prst="rect">
            <a:avLst/>
          </a:prstGeom>
          <a:solidFill>
            <a:srgbClr val="CBD5E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051FD2C-D493-DC43-A215-0E51B670F042}"/>
              </a:ext>
            </a:extLst>
          </p:cNvPr>
          <p:cNvSpPr txBox="1"/>
          <p:nvPr/>
        </p:nvSpPr>
        <p:spPr>
          <a:xfrm>
            <a:off x="901700" y="2336800"/>
            <a:ext cx="2311400" cy="677333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A1  Re-identification attacks on African Beacon
A2  Differential-privacy noise layer
A3  Reconstruction-attack defense (2025)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A3B6F5-D87A-604C-852C-04072074F326}"/>
              </a:ext>
            </a:extLst>
          </p:cNvPr>
          <p:cNvSpPr txBox="1"/>
          <p:nvPr/>
        </p:nvSpPr>
        <p:spPr>
          <a:xfrm>
            <a:off x="3594100" y="2336800"/>
            <a:ext cx="2311400" cy="677333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B1  Query-log anomaly / abuse classifier
B2  Latency benchmarking &amp; SLO design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7E3464-9E97-3642-99D8-3ADDD4A33D7F}"/>
              </a:ext>
            </a:extLst>
          </p:cNvPr>
          <p:cNvSpPr txBox="1"/>
          <p:nvPr/>
        </p:nvSpPr>
        <p:spPr>
          <a:xfrm>
            <a:off x="6286500" y="2336800"/>
            <a:ext cx="2311400" cy="677333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C1  Property-based fuzzer for Beacon v2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52CF2EE-6D42-A64A-AEBC-E6C6EB8060BE}"/>
              </a:ext>
            </a:extLst>
          </p:cNvPr>
          <p:cNvSpPr txBox="1"/>
          <p:nvPr/>
        </p:nvSpPr>
        <p:spPr>
          <a:xfrm>
            <a:off x="8978900" y="2336800"/>
            <a:ext cx="2311400" cy="677333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D1  Phenopackets cohort discovery
D2  Pharmacogenomics (AGMP / star alleles)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4854FB-352E-5E49-A27B-D0492E1A064F}"/>
              </a:ext>
            </a:extLst>
          </p:cNvPr>
          <p:cNvSpPr txBox="1"/>
          <p:nvPr/>
        </p:nvSpPr>
        <p:spPr>
          <a:xfrm>
            <a:off x="901700" y="3852333"/>
            <a:ext cx="2311400" cy="677333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E1  Privacy-aware result visualisation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B42FD1-A282-C847-9E93-7F7B2CC2DEDA}"/>
              </a:ext>
            </a:extLst>
          </p:cNvPr>
          <p:cNvSpPr txBox="1"/>
          <p:nvPr/>
        </p:nvSpPr>
        <p:spPr>
          <a:xfrm>
            <a:off x="3594100" y="3852333"/>
            <a:ext cx="2311400" cy="677333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F1  V7HC-S bulk-ingest benchmarking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257A10-B18B-1E4E-A5DE-77BEE2B6E761}"/>
              </a:ext>
            </a:extLst>
          </p:cNvPr>
          <p:cNvSpPr txBox="1"/>
          <p:nvPr/>
        </p:nvSpPr>
        <p:spPr>
          <a:xfrm>
            <a:off x="6286500" y="3852333"/>
            <a:ext cx="5003800" cy="2192866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G1  Pathogen  (TB / HIV / malaria / mpox)
G2  Methylation  (MBeacon)
G3  Cancer / CNV  (Progenetix-style)
G4  Crops  (cassava / sorghum / teff)
G5  Microbiome  (gut / oral)
G6  Imaging  (TB CXR / DR)</a:t>
            </a:r>
          </a:p>
        </p:txBody>
      </p:sp>
    </p:spTree>
    <p:extLst>
      <p:ext uri="{BB962C8B-B14F-4D97-AF65-F5344CB8AC3E}">
        <p14:creationId xmlns:p14="http://schemas.microsoft.com/office/powerpoint/2010/main" val="3128738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64592" cy="914400"/>
          </a:xfrm>
          <a:prstGeom prst="rect">
            <a:avLst/>
          </a:prstGeom>
          <a:solidFill>
            <a:srgbClr val="C8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B2E4F"/>
                </a:solidFill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r>
              <a:t>Pre-watch  ·  Baudis (March 2024) — youtube.com/watch?v=OWF8PC2sX7w   (~50 min)</a:t>
            </a:r>
          </a:p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r>
              <a:t>Read       ·  Rambla et al. 2022 — doi.org/10.1002/humu.24369</a:t>
            </a:r>
          </a:p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r>
              <a:t>Browse     ·  docs.genomebeacons.org   ·   genomebeacons.org/FAQ</a:t>
            </a:r>
          </a:p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r>
              <a:t>Try        ·  api-beacon.afrigen-d.dev/api/info   (any browser)</a:t>
            </a:r>
          </a:p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r>
              <a:t>Pick a project from the menu. Bring questions to the next session.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55555"/>
                </a:solidFill>
              </a:defRPr>
            </a:pPr>
            <a:r>
              <a:t>Contact: AfriGen-D · UCT CBIO · Mamana Mbiyavanga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8097C22-C65F-9648-B0C4-0078AB66F6F0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da69fd8-3b5f-4132-ab46-84ee207dd93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519</Words>
  <Application>Microsoft Macintosh PowerPoint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Arial</vt:lpstr>
      <vt:lpstr>Calibri</vt:lpstr>
      <vt:lpstr>Helvetica Neue</vt:lpstr>
      <vt:lpstr>Helvetica Neue Light</vt:lpstr>
      <vt:lpstr>Verdana</vt:lpstr>
      <vt:lpstr>Office Theme</vt:lpstr>
      <vt:lpstr>Office Theme</vt:lpstr>
      <vt:lpstr>PowerPoint Presentation</vt:lpstr>
      <vt:lpstr>What is Beacon API?</vt:lpstr>
      <vt:lpstr>Beacon v1</vt:lpstr>
      <vt:lpstr>Beacon v1 in a network</vt:lpstr>
      <vt:lpstr>Beacon v2</vt:lpstr>
      <vt:lpstr>Beacon Security</vt:lpstr>
      <vt:lpstr>Beacon v2 Implementation</vt:lpstr>
      <vt:lpstr>Beacon v2 Implementation options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Mamana Mbiyavanga</cp:lastModifiedBy>
  <cp:revision>4</cp:revision>
  <dcterms:created xsi:type="dcterms:W3CDTF">2013-01-27T09:14:16Z</dcterms:created>
  <dcterms:modified xsi:type="dcterms:W3CDTF">2026-05-06T13:13:50Z</dcterms:modified>
  <cp:category/>
</cp:coreProperties>
</file>